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0"/>
  </p:notesMasterIdLst>
  <p:sldIdLst>
    <p:sldId id="256" r:id="rId2"/>
    <p:sldId id="258" r:id="rId3"/>
    <p:sldId id="305" r:id="rId4"/>
    <p:sldId id="316" r:id="rId5"/>
    <p:sldId id="266" r:id="rId6"/>
    <p:sldId id="306" r:id="rId7"/>
    <p:sldId id="262" r:id="rId8"/>
    <p:sldId id="307" r:id="rId9"/>
    <p:sldId id="308" r:id="rId10"/>
    <p:sldId id="309" r:id="rId11"/>
    <p:sldId id="310" r:id="rId12"/>
    <p:sldId id="311" r:id="rId13"/>
    <p:sldId id="312" r:id="rId14"/>
    <p:sldId id="313" r:id="rId15"/>
    <p:sldId id="314" r:id="rId16"/>
    <p:sldId id="315" r:id="rId17"/>
    <p:sldId id="317" r:id="rId18"/>
    <p:sldId id="318" r:id="rId19"/>
  </p:sldIdLst>
  <p:sldSz cx="9144000" cy="5143500" type="screen16x9"/>
  <p:notesSz cx="6858000" cy="9144000"/>
  <p:embeddedFontLst>
    <p:embeddedFont>
      <p:font typeface="Figtree Black" panose="020B0604020202020204" charset="0"/>
      <p:bold r:id="rId21"/>
      <p:boldItalic r:id="rId22"/>
    </p:embeddedFont>
    <p:embeddedFont>
      <p:font typeface="Hanken Grotesk"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D928DA-E1BD-409A-80F9-79C3B821BF79}">
  <a:tblStyle styleId="{8ED928DA-E1BD-409A-80F9-79C3B821BF7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62"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161ca7da6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161ca7da6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dd46dd1d67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dd46dd1d67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30" name="Google Shape;30;p4"/>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8"/>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9"/>
        <p:cNvGrpSpPr/>
        <p:nvPr/>
      </p:nvGrpSpPr>
      <p:grpSpPr>
        <a:xfrm>
          <a:off x="0" y="0"/>
          <a:ext cx="0" cy="0"/>
          <a:chOff x="0" y="0"/>
          <a:chExt cx="0" cy="0"/>
        </a:xfrm>
      </p:grpSpPr>
      <p:sp>
        <p:nvSpPr>
          <p:cNvPr id="80" name="Google Shape;80;p11"/>
          <p:cNvSpPr/>
          <p:nvPr/>
        </p:nvSpPr>
        <p:spPr>
          <a:xfrm>
            <a:off x="-342297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 name="Google Shape;81;p11"/>
          <p:cNvGrpSpPr/>
          <p:nvPr/>
        </p:nvGrpSpPr>
        <p:grpSpPr>
          <a:xfrm>
            <a:off x="727425" y="-382650"/>
            <a:ext cx="7703400" cy="5907300"/>
            <a:chOff x="727425" y="-382650"/>
            <a:chExt cx="7703400" cy="5907300"/>
          </a:xfrm>
        </p:grpSpPr>
        <p:sp>
          <p:nvSpPr>
            <p:cNvPr id="82" name="Google Shape;82;p11"/>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 name="Google Shape;83;p11"/>
            <p:cNvCxnSpPr/>
            <p:nvPr/>
          </p:nvCxnSpPr>
          <p:spPr>
            <a:xfrm>
              <a:off x="727425" y="4608450"/>
              <a:ext cx="0" cy="9162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11"/>
            <p:cNvCxnSpPr/>
            <p:nvPr/>
          </p:nvCxnSpPr>
          <p:spPr>
            <a:xfrm>
              <a:off x="8430775" y="-382650"/>
              <a:ext cx="0" cy="916200"/>
            </a:xfrm>
            <a:prstGeom prst="straightConnector1">
              <a:avLst/>
            </a:prstGeom>
            <a:noFill/>
            <a:ln w="19050" cap="flat" cmpd="sng">
              <a:solidFill>
                <a:schemeClr val="dk1"/>
              </a:solidFill>
              <a:prstDash val="solid"/>
              <a:round/>
              <a:headEnd type="none" w="med" len="med"/>
              <a:tailEnd type="none" w="med" len="med"/>
            </a:ln>
          </p:spPr>
        </p:cxnSp>
      </p:grpSp>
      <p:sp>
        <p:nvSpPr>
          <p:cNvPr id="85" name="Google Shape;85;p11"/>
          <p:cNvSpPr txBox="1">
            <a:spLocks noGrp="1"/>
          </p:cNvSpPr>
          <p:nvPr>
            <p:ph type="title" hasCustomPrompt="1"/>
          </p:nvPr>
        </p:nvSpPr>
        <p:spPr>
          <a:xfrm>
            <a:off x="2603050" y="1856113"/>
            <a:ext cx="5827800" cy="1024500"/>
          </a:xfrm>
          <a:prstGeom prst="rect">
            <a:avLst/>
          </a:prstGeom>
          <a:solidFill>
            <a:schemeClr val="dk1"/>
          </a:solidFill>
        </p:spPr>
        <p:txBody>
          <a:bodyPr spcFirstLastPara="1" wrap="square" lIns="91425" tIns="91425" rIns="91425" bIns="91425" anchor="ctr" anchorCtr="0">
            <a:noAutofit/>
          </a:bodyPr>
          <a:lstStyle>
            <a:lvl1pPr marL="0" lvl="0" indent="0" rtl="0">
              <a:lnSpc>
                <a:spcPct val="115000"/>
              </a:lnSpc>
              <a:spcBef>
                <a:spcPts val="0"/>
              </a:spcBef>
              <a:spcAft>
                <a:spcPts val="0"/>
              </a:spcAft>
              <a:buSzPts val="9600"/>
              <a:buNone/>
              <a:defRPr sz="49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a:spLocks noGrp="1"/>
          </p:cNvSpPr>
          <p:nvPr>
            <p:ph type="subTitle" idx="1"/>
          </p:nvPr>
        </p:nvSpPr>
        <p:spPr>
          <a:xfrm>
            <a:off x="2603050" y="2880588"/>
            <a:ext cx="5827800" cy="4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atin typeface="Hanken Grotesk"/>
                <a:ea typeface="Hanken Grotesk"/>
                <a:cs typeface="Hanken Grotesk"/>
                <a:sym typeface="Hanken Grotesk"/>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8"/>
        <p:cNvGrpSpPr/>
        <p:nvPr/>
      </p:nvGrpSpPr>
      <p:grpSpPr>
        <a:xfrm>
          <a:off x="0" y="0"/>
          <a:ext cx="0" cy="0"/>
          <a:chOff x="0" y="0"/>
          <a:chExt cx="0" cy="0"/>
        </a:xfrm>
      </p:grpSpPr>
      <p:sp>
        <p:nvSpPr>
          <p:cNvPr id="89" name="Google Shape;89;p13"/>
          <p:cNvSpPr/>
          <p:nvPr/>
        </p:nvSpPr>
        <p:spPr>
          <a:xfrm>
            <a:off x="-941925"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13"/>
          <p:cNvGrpSpPr/>
          <p:nvPr/>
        </p:nvGrpSpPr>
        <p:grpSpPr>
          <a:xfrm>
            <a:off x="-19050" y="232800"/>
            <a:ext cx="9189150" cy="4684500"/>
            <a:chOff x="-19050" y="232800"/>
            <a:chExt cx="9189150" cy="4684500"/>
          </a:xfrm>
        </p:grpSpPr>
        <p:sp>
          <p:nvSpPr>
            <p:cNvPr id="91" name="Google Shape;91;p1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13"/>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93" name="Google Shape;93;p13"/>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94" name="Google Shape;94;p1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5" r:id="rId4"/>
    <p:sldLayoutId id="2147483657" r:id="rId5"/>
    <p:sldLayoutId id="2147483658" r:id="rId6"/>
    <p:sldLayoutId id="2147483659" r:id="rId7"/>
    <p:sldLayoutId id="2147483674"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1219200"/>
            <a:ext cx="7374704" cy="1843613"/>
          </a:xfrm>
          <a:prstGeom prst="rect">
            <a:avLst/>
          </a:prstGeom>
        </p:spPr>
        <p:txBody>
          <a:bodyPr spcFirstLastPara="1" wrap="square" lIns="91425" tIns="91425" rIns="91425" bIns="91425" anchor="b" anchorCtr="0">
            <a:noAutofit/>
          </a:bodyPr>
          <a:lstStyle/>
          <a:p>
            <a:pPr fontAlgn="base"/>
            <a:r>
              <a:rPr lang="en-US" sz="2800" dirty="0"/>
              <a:t>Generative AI as General-Purpose Technology: A panel data analysis of European productivity and industrial output (2011–2024)</a:t>
            </a:r>
          </a:p>
        </p:txBody>
      </p:sp>
      <p:sp>
        <p:nvSpPr>
          <p:cNvPr id="290" name="Google Shape;290;p33"/>
          <p:cNvSpPr txBox="1">
            <a:spLocks noGrp="1"/>
          </p:cNvSpPr>
          <p:nvPr>
            <p:ph type="subTitle" idx="1"/>
          </p:nvPr>
        </p:nvSpPr>
        <p:spPr>
          <a:xfrm>
            <a:off x="1210496" y="3062812"/>
            <a:ext cx="5897400" cy="5802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Hanken Grotesk"/>
                <a:ea typeface="Hanken Grotesk"/>
                <a:cs typeface="Hanken Grotesk"/>
                <a:sym typeface="Hanken Grotesk"/>
              </a:rPr>
              <a:t>By Alaeddine Khallid</a:t>
            </a:r>
          </a:p>
          <a:p>
            <a:pPr marL="0" lvl="0" indent="0" algn="l" rtl="0">
              <a:spcBef>
                <a:spcPts val="0"/>
              </a:spcBef>
              <a:spcAft>
                <a:spcPts val="0"/>
              </a:spcAft>
              <a:buNone/>
            </a:pPr>
            <a:r>
              <a:rPr lang="en" dirty="0"/>
              <a:t>Thesis Advisor: Boyko Amarov</a:t>
            </a:r>
            <a:endParaRPr dirty="0">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304" name="Google Shape;304;p35"/>
          <p:cNvCxnSpPr>
            <a:cxnSpLocks/>
          </p:cNvCxnSpPr>
          <p:nvPr/>
        </p:nvCxnSpPr>
        <p:spPr>
          <a:xfrm flipH="1">
            <a:off x="-167825" y="3160425"/>
            <a:ext cx="2393574" cy="0"/>
          </a:xfrm>
          <a:prstGeom prst="straightConnector1">
            <a:avLst/>
          </a:prstGeom>
          <a:noFill/>
          <a:ln w="19050" cap="flat" cmpd="sng">
            <a:solidFill>
              <a:schemeClr val="dk1"/>
            </a:solidFill>
            <a:prstDash val="solid"/>
            <a:round/>
            <a:headEnd type="none" w="med" len="med"/>
            <a:tailEnd type="none" w="med" len="med"/>
          </a:ln>
        </p:spPr>
      </p:cxnSp>
      <p:cxnSp>
        <p:nvCxnSpPr>
          <p:cNvPr id="306" name="Google Shape;306;p35"/>
          <p:cNvCxnSpPr>
            <a:stCxn id="307" idx="3"/>
          </p:cNvCxnSpPr>
          <p:nvPr/>
        </p:nvCxnSpPr>
        <p:spPr>
          <a:xfrm>
            <a:off x="1285275" y="1502500"/>
            <a:ext cx="8009700" cy="0"/>
          </a:xfrm>
          <a:prstGeom prst="straightConnector1">
            <a:avLst/>
          </a:prstGeom>
          <a:noFill/>
          <a:ln w="19050" cap="flat" cmpd="sng">
            <a:solidFill>
              <a:schemeClr val="dk1"/>
            </a:solidFill>
            <a:prstDash val="solid"/>
            <a:round/>
            <a:headEnd type="none" w="med" len="med"/>
            <a:tailEnd type="none" w="med" len="med"/>
          </a:ln>
        </p:spPr>
      </p:cxnSp>
      <p:sp>
        <p:nvSpPr>
          <p:cNvPr id="308" name="Google Shape;308;p35"/>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a:t>
            </a:r>
            <a:r>
              <a:rPr lang="en" dirty="0"/>
              <a:t>tructure of thesis </a:t>
            </a:r>
            <a:endParaRPr dirty="0"/>
          </a:p>
        </p:txBody>
      </p:sp>
      <p:sp>
        <p:nvSpPr>
          <p:cNvPr id="310" name="Google Shape;310;p35"/>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p>
            <a:pPr marL="0" lvl="0" indent="0"/>
            <a:r>
              <a:rPr lang="en-US" dirty="0"/>
              <a:t>Literature Review</a:t>
            </a:r>
            <a:endParaRPr dirty="0"/>
          </a:p>
        </p:txBody>
      </p:sp>
      <p:sp>
        <p:nvSpPr>
          <p:cNvPr id="311" name="Google Shape;311;p35"/>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p>
            <a:pPr marL="0" lvl="0" indent="0"/>
            <a:r>
              <a:rPr lang="en-US" dirty="0"/>
              <a:t>Conclusion	</a:t>
            </a:r>
            <a:endParaRPr dirty="0"/>
          </a:p>
        </p:txBody>
      </p:sp>
      <p:sp>
        <p:nvSpPr>
          <p:cNvPr id="312" name="Google Shape;312;p35"/>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p>
            <a:pPr marL="0" lvl="0" indent="0"/>
            <a:r>
              <a:rPr lang="en-US" dirty="0"/>
              <a:t>Data and Methodology</a:t>
            </a:r>
          </a:p>
        </p:txBody>
      </p:sp>
      <p:sp>
        <p:nvSpPr>
          <p:cNvPr id="307" name="Google Shape;307;p35"/>
          <p:cNvSpPr txBox="1">
            <a:spLocks noGrp="1"/>
          </p:cNvSpPr>
          <p:nvPr>
            <p:ph type="title" idx="5"/>
          </p:nvPr>
        </p:nvSpPr>
        <p:spPr>
          <a:xfrm>
            <a:off x="9195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14" name="Google Shape;314;p35"/>
          <p:cNvSpPr txBox="1">
            <a:spLocks noGrp="1"/>
          </p:cNvSpPr>
          <p:nvPr>
            <p:ph type="title" idx="7"/>
          </p:nvPr>
        </p:nvSpPr>
        <p:spPr>
          <a:xfrm>
            <a:off x="919575"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15" name="Google Shape;315;p35"/>
          <p:cNvSpPr txBox="1">
            <a:spLocks noGrp="1"/>
          </p:cNvSpPr>
          <p:nvPr>
            <p:ph type="title" idx="8"/>
          </p:nvPr>
        </p:nvSpPr>
        <p:spPr>
          <a:xfrm>
            <a:off x="35282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17" name="Google Shape;317;p35"/>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p>
            <a:pPr marL="0" lvl="0" indent="0"/>
            <a:r>
              <a:rPr lang="en-US" dirty="0"/>
              <a:t>Empirical Results</a:t>
            </a:r>
            <a:endParaRPr dirty="0"/>
          </a:p>
        </p:txBody>
      </p:sp>
      <p:sp>
        <p:nvSpPr>
          <p:cNvPr id="318" name="Google Shape;318;p35"/>
          <p:cNvSpPr txBox="1">
            <a:spLocks noGrp="1"/>
          </p:cNvSpPr>
          <p:nvPr>
            <p:ph type="title" idx="15"/>
          </p:nvPr>
        </p:nvSpPr>
        <p:spPr>
          <a:xfrm>
            <a:off x="61369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19" name="Google Shape;319;p35"/>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a:t>
            </a:r>
            <a:r>
              <a:rPr lang="en" dirty="0"/>
              <a:t>hapter 1</a:t>
            </a:r>
            <a:endParaRPr dirty="0"/>
          </a:p>
        </p:txBody>
      </p:sp>
      <p:sp>
        <p:nvSpPr>
          <p:cNvPr id="320" name="Google Shape;320;p35"/>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a:t>
            </a:r>
            <a:r>
              <a:rPr lang="en" dirty="0"/>
              <a:t>hapter 4	</a:t>
            </a:r>
            <a:endParaRPr dirty="0"/>
          </a:p>
        </p:txBody>
      </p:sp>
      <p:sp>
        <p:nvSpPr>
          <p:cNvPr id="322" name="Google Shape;322;p35"/>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a:t>
            </a:r>
            <a:r>
              <a:rPr lang="en" dirty="0"/>
              <a:t>hapter 2</a:t>
            </a:r>
            <a:endParaRPr dirty="0"/>
          </a:p>
        </p:txBody>
      </p:sp>
      <p:sp>
        <p:nvSpPr>
          <p:cNvPr id="324" name="Google Shape;324;p35"/>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a:t>
            </a:r>
            <a:r>
              <a:rPr lang="en" dirty="0"/>
              <a:t>hapter 3</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66915B8-539A-CE7D-7EFF-9C89F8723D67}"/>
              </a:ext>
            </a:extLst>
          </p:cNvPr>
          <p:cNvSpPr>
            <a:spLocks noGrp="1"/>
          </p:cNvSpPr>
          <p:nvPr>
            <p:ph type="subTitle" idx="1"/>
          </p:nvPr>
        </p:nvSpPr>
        <p:spPr>
          <a:xfrm>
            <a:off x="870503" y="1797273"/>
            <a:ext cx="5827800" cy="405300"/>
          </a:xfrm>
        </p:spPr>
        <p:txBody>
          <a:bodyPr/>
          <a:lstStyle/>
          <a:p>
            <a:r>
              <a:rPr lang="en-US" sz="1600" b="1" dirty="0"/>
              <a:t>Hypothesis :</a:t>
            </a:r>
          </a:p>
        </p:txBody>
      </p:sp>
      <p:sp>
        <p:nvSpPr>
          <p:cNvPr id="6" name="TextBox 5">
            <a:extLst>
              <a:ext uri="{FF2B5EF4-FFF2-40B4-BE49-F238E27FC236}">
                <a16:creationId xmlns:a16="http://schemas.microsoft.com/office/drawing/2014/main" id="{05EEF4D2-4445-FF74-08CF-9F054A1C9625}"/>
              </a:ext>
            </a:extLst>
          </p:cNvPr>
          <p:cNvSpPr txBox="1"/>
          <p:nvPr/>
        </p:nvSpPr>
        <p:spPr>
          <a:xfrm>
            <a:off x="1058778" y="576328"/>
            <a:ext cx="2007555" cy="338554"/>
          </a:xfrm>
          <a:prstGeom prst="rect">
            <a:avLst/>
          </a:prstGeom>
          <a:noFill/>
        </p:spPr>
        <p:txBody>
          <a:bodyPr wrap="square" rtlCol="0">
            <a:spAutoFit/>
          </a:bodyPr>
          <a:lstStyle/>
          <a:p>
            <a:r>
              <a:rPr lang="en-US" sz="1600" b="1" dirty="0"/>
              <a:t>Research question</a:t>
            </a:r>
          </a:p>
        </p:txBody>
      </p:sp>
      <p:sp>
        <p:nvSpPr>
          <p:cNvPr id="7" name="TextBox 6">
            <a:extLst>
              <a:ext uri="{FF2B5EF4-FFF2-40B4-BE49-F238E27FC236}">
                <a16:creationId xmlns:a16="http://schemas.microsoft.com/office/drawing/2014/main" id="{38CD53B4-C94E-2230-2B86-3920924E47AE}"/>
              </a:ext>
            </a:extLst>
          </p:cNvPr>
          <p:cNvSpPr txBox="1"/>
          <p:nvPr/>
        </p:nvSpPr>
        <p:spPr>
          <a:xfrm>
            <a:off x="1010652" y="2130856"/>
            <a:ext cx="4400120" cy="2462213"/>
          </a:xfrm>
          <a:prstGeom prst="rect">
            <a:avLst/>
          </a:prstGeom>
          <a:noFill/>
        </p:spPr>
        <p:txBody>
          <a:bodyPr wrap="square" rtlCol="0">
            <a:spAutoFit/>
          </a:bodyPr>
          <a:lstStyle/>
          <a:p>
            <a:r>
              <a:rPr lang="en-US" b="1" dirty="0"/>
              <a:t>H1: The Displacement Hypothesis</a:t>
            </a:r>
          </a:p>
          <a:p>
            <a:r>
              <a:rPr lang="en-US" dirty="0"/>
              <a:t>Generative AI acts primarily as a labor-substituting technology. Therefore, high-exposure industries will experience a rise in labor productivity driven by a reduction in labor demand (job losses)</a:t>
            </a:r>
          </a:p>
          <a:p>
            <a:r>
              <a:rPr lang="en-US" b="1" dirty="0"/>
              <a:t>H2: The Expansion Hypothesis</a:t>
            </a:r>
          </a:p>
          <a:p>
            <a:r>
              <a:rPr lang="en-US" dirty="0"/>
              <a:t>Generative AI acts as a labor-complementing technology that lowers production costs. Therefore, high-exposure industries will experience a 'Scale Effect,' leading to significant growth in Real Output and a net increase in Labor Demand.</a:t>
            </a:r>
          </a:p>
        </p:txBody>
      </p:sp>
      <p:sp>
        <p:nvSpPr>
          <p:cNvPr id="9" name="TextBox 8">
            <a:extLst>
              <a:ext uri="{FF2B5EF4-FFF2-40B4-BE49-F238E27FC236}">
                <a16:creationId xmlns:a16="http://schemas.microsoft.com/office/drawing/2014/main" id="{6B78E518-0C0A-B669-E849-451BCE915FCF}"/>
              </a:ext>
            </a:extLst>
          </p:cNvPr>
          <p:cNvSpPr txBox="1"/>
          <p:nvPr/>
        </p:nvSpPr>
        <p:spPr>
          <a:xfrm>
            <a:off x="1010652" y="794513"/>
            <a:ext cx="6283922" cy="1169551"/>
          </a:xfrm>
          <a:prstGeom prst="rect">
            <a:avLst/>
          </a:prstGeom>
          <a:noFill/>
        </p:spPr>
        <p:txBody>
          <a:bodyPr wrap="square">
            <a:spAutoFit/>
          </a:bodyPr>
          <a:lstStyle/>
          <a:p>
            <a:pPr fontAlgn="base"/>
            <a:r>
              <a:rPr lang="en-US" dirty="0"/>
              <a:t>This thesis aims to examine the immediate impact of the "ChatGPT shock on the European labor market. By asking the question did industries with high exposure to generative AI become more efficient, producing the same output with fewer workers? Or did they expand, increasing both output and employment?</a:t>
            </a:r>
          </a:p>
        </p:txBody>
      </p:sp>
    </p:spTree>
    <p:extLst>
      <p:ext uri="{BB962C8B-B14F-4D97-AF65-F5344CB8AC3E}">
        <p14:creationId xmlns:p14="http://schemas.microsoft.com/office/powerpoint/2010/main" val="301799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C9B7-AA75-9A5D-1E3E-0200FBD22525}"/>
              </a:ext>
            </a:extLst>
          </p:cNvPr>
          <p:cNvSpPr>
            <a:spLocks noGrp="1"/>
          </p:cNvSpPr>
          <p:nvPr>
            <p:ph type="title"/>
          </p:nvPr>
        </p:nvSpPr>
        <p:spPr/>
        <p:txBody>
          <a:bodyPr/>
          <a:lstStyle/>
          <a:p>
            <a:r>
              <a:rPr lang="en-US" dirty="0"/>
              <a:t>Data sets</a:t>
            </a:r>
          </a:p>
        </p:txBody>
      </p:sp>
      <p:sp>
        <p:nvSpPr>
          <p:cNvPr id="3" name="Text Placeholder 2">
            <a:extLst>
              <a:ext uri="{FF2B5EF4-FFF2-40B4-BE49-F238E27FC236}">
                <a16:creationId xmlns:a16="http://schemas.microsoft.com/office/drawing/2014/main" id="{16D16ECA-B897-39A9-66AF-3BE7DC35974B}"/>
              </a:ext>
            </a:extLst>
          </p:cNvPr>
          <p:cNvSpPr>
            <a:spLocks noGrp="1"/>
          </p:cNvSpPr>
          <p:nvPr>
            <p:ph type="body" idx="1"/>
          </p:nvPr>
        </p:nvSpPr>
        <p:spPr/>
        <p:txBody>
          <a:bodyPr/>
          <a:lstStyle/>
          <a:p>
            <a:pPr lvl="0"/>
            <a:r>
              <a:rPr lang="en-US" b="1" dirty="0"/>
              <a:t>AI Exposure Scores (Source: Felten et al., 2021):</a:t>
            </a:r>
            <a:r>
              <a:rPr lang="en-US" dirty="0"/>
              <a:t> The foundational metric is the AI Occupational Exposure (AIOE) index, which links 52 human abilities (from O*NET) to ten specific AI applications. </a:t>
            </a:r>
          </a:p>
          <a:p>
            <a:pPr lvl="0"/>
            <a:r>
              <a:rPr lang="en-US" b="1" dirty="0"/>
              <a:t>Labor Force Structure (Source: Eurostat LFS):</a:t>
            </a:r>
            <a:r>
              <a:rPr lang="en-US" dirty="0"/>
              <a:t> Employment counts by occupation (ISCO-08) and economic activity (NACE Rev. 2) for European countries.</a:t>
            </a:r>
          </a:p>
          <a:p>
            <a:pPr lvl="0"/>
            <a:r>
              <a:rPr lang="en-US" b="1" dirty="0"/>
              <a:t>Productivity Metrics (Source: Eurostat National Accounts):</a:t>
            </a:r>
            <a:r>
              <a:rPr lang="en-US" dirty="0"/>
              <a:t> Real Gross Value Added (Chain-linked volumes, 2010 reference) and Total Hours Worked by industry and year.</a:t>
            </a:r>
          </a:p>
          <a:p>
            <a:endParaRPr lang="en-US" dirty="0"/>
          </a:p>
          <a:p>
            <a:r>
              <a:rPr lang="en-US" dirty="0"/>
              <a:t>Cross walk SOC to ISCO Nace rev 2</a:t>
            </a:r>
          </a:p>
        </p:txBody>
      </p:sp>
    </p:spTree>
    <p:extLst>
      <p:ext uri="{BB962C8B-B14F-4D97-AF65-F5344CB8AC3E}">
        <p14:creationId xmlns:p14="http://schemas.microsoft.com/office/powerpoint/2010/main" val="1386837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 name="TextBox 3">
            <a:extLst>
              <a:ext uri="{FF2B5EF4-FFF2-40B4-BE49-F238E27FC236}">
                <a16:creationId xmlns:a16="http://schemas.microsoft.com/office/drawing/2014/main" id="{5CCDE4A0-FF92-7832-6F42-AC077316C633}"/>
              </a:ext>
            </a:extLst>
          </p:cNvPr>
          <p:cNvSpPr txBox="1"/>
          <p:nvPr/>
        </p:nvSpPr>
        <p:spPr>
          <a:xfrm>
            <a:off x="1163170" y="696394"/>
            <a:ext cx="2286000" cy="584775"/>
          </a:xfrm>
          <a:prstGeom prst="rect">
            <a:avLst/>
          </a:prstGeom>
          <a:noFill/>
        </p:spPr>
        <p:txBody>
          <a:bodyPr wrap="square" rtlCol="0">
            <a:spAutoFit/>
          </a:bodyPr>
          <a:lstStyle/>
          <a:p>
            <a:r>
              <a:rPr lang="en-US" sz="1600" b="1" dirty="0"/>
              <a:t>Formulating AI industry exposure</a:t>
            </a:r>
          </a:p>
        </p:txBody>
      </p:sp>
      <p:sp>
        <p:nvSpPr>
          <p:cNvPr id="5" name="TextBox 4">
            <a:extLst>
              <a:ext uri="{FF2B5EF4-FFF2-40B4-BE49-F238E27FC236}">
                <a16:creationId xmlns:a16="http://schemas.microsoft.com/office/drawing/2014/main" id="{01C95612-83BD-0226-0BA0-E1506A29B1FF}"/>
              </a:ext>
            </a:extLst>
          </p:cNvPr>
          <p:cNvSpPr txBox="1"/>
          <p:nvPr/>
        </p:nvSpPr>
        <p:spPr>
          <a:xfrm>
            <a:off x="1069041" y="1338747"/>
            <a:ext cx="6239435" cy="3631763"/>
          </a:xfrm>
          <a:prstGeom prst="rect">
            <a:avLst/>
          </a:prstGeom>
          <a:noFill/>
        </p:spPr>
        <p:txBody>
          <a:bodyPr wrap="square" rtlCol="0">
            <a:spAutoFit/>
          </a:bodyPr>
          <a:lstStyle/>
          <a:p>
            <a:r>
              <a:rPr lang="en-US" dirty="0"/>
              <a:t>The granular US SOC codes  were mapped to the International Standard Classification of Occupations (ISCO-08). To ensure robust matching, we aggregated detailed occupations into the 9 Major ISCO-08 Groups (1-digit level).</a:t>
            </a:r>
          </a:p>
          <a:p>
            <a:r>
              <a:rPr lang="en-US" sz="1600" b="1" dirty="0"/>
              <a:t>Group 1:</a:t>
            </a:r>
            <a:r>
              <a:rPr lang="en-US" sz="1600" dirty="0"/>
              <a:t> Managers</a:t>
            </a:r>
          </a:p>
          <a:p>
            <a:pPr lvl="0"/>
            <a:r>
              <a:rPr lang="en-US" sz="1600" b="1" dirty="0"/>
              <a:t>Group 2:</a:t>
            </a:r>
            <a:r>
              <a:rPr lang="en-US" sz="1600" dirty="0"/>
              <a:t> Professionals</a:t>
            </a:r>
          </a:p>
          <a:p>
            <a:pPr lvl="0"/>
            <a:r>
              <a:rPr lang="en-US" sz="1600" b="1" dirty="0"/>
              <a:t>Group 3:</a:t>
            </a:r>
            <a:r>
              <a:rPr lang="en-US" sz="1600" dirty="0"/>
              <a:t> Technicians and Associate Professionals</a:t>
            </a:r>
          </a:p>
          <a:p>
            <a:pPr lvl="0"/>
            <a:r>
              <a:rPr lang="en-US" sz="1600" b="1" dirty="0"/>
              <a:t>Group 4: </a:t>
            </a:r>
            <a:r>
              <a:rPr lang="en-US" sz="1600" dirty="0"/>
              <a:t>Clerical Support Workers</a:t>
            </a:r>
          </a:p>
          <a:p>
            <a:pPr lvl="0"/>
            <a:r>
              <a:rPr lang="en-US" sz="1600" b="1" dirty="0"/>
              <a:t>Group 5: </a:t>
            </a:r>
            <a:r>
              <a:rPr lang="en-US" sz="1600" dirty="0"/>
              <a:t>Service and Sales Workers</a:t>
            </a:r>
          </a:p>
          <a:p>
            <a:pPr lvl="0"/>
            <a:r>
              <a:rPr lang="en-US" sz="1600" b="1" dirty="0"/>
              <a:t>Group 6: </a:t>
            </a:r>
            <a:r>
              <a:rPr lang="en-US" sz="1600" dirty="0"/>
              <a:t>Skilled Agricultural, Forestry and Fishery Workers</a:t>
            </a:r>
          </a:p>
          <a:p>
            <a:pPr lvl="0"/>
            <a:r>
              <a:rPr lang="en-US" sz="1600" b="1" dirty="0"/>
              <a:t>Group 7: </a:t>
            </a:r>
            <a:r>
              <a:rPr lang="en-US" sz="1600" dirty="0"/>
              <a:t>Craft and Related Trades Workers</a:t>
            </a:r>
          </a:p>
          <a:p>
            <a:pPr lvl="0"/>
            <a:r>
              <a:rPr lang="en-US" sz="1600" b="1" dirty="0"/>
              <a:t>Group 8: </a:t>
            </a:r>
            <a:r>
              <a:rPr lang="en-US" sz="1600" dirty="0"/>
              <a:t>Plant and Machine Operators and Assemblers</a:t>
            </a:r>
          </a:p>
          <a:p>
            <a:pPr lvl="0"/>
            <a:r>
              <a:rPr lang="en-US" sz="1600" b="1" dirty="0"/>
              <a:t>Group 9:</a:t>
            </a:r>
            <a:r>
              <a:rPr lang="en-US" sz="1600" dirty="0"/>
              <a:t> Elementary Occupations</a:t>
            </a:r>
          </a:p>
          <a:p>
            <a:r>
              <a:rPr lang="en-US" sz="1600" dirty="0"/>
              <a:t>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D0EA9D-1863-E77B-748A-045717271AD6}"/>
              </a:ext>
            </a:extLst>
          </p:cNvPr>
          <p:cNvSpPr txBox="1"/>
          <p:nvPr/>
        </p:nvSpPr>
        <p:spPr>
          <a:xfrm>
            <a:off x="907311" y="618908"/>
            <a:ext cx="4329953" cy="1384995"/>
          </a:xfrm>
          <a:prstGeom prst="rect">
            <a:avLst/>
          </a:prstGeom>
          <a:noFill/>
        </p:spPr>
        <p:txBody>
          <a:bodyPr wrap="square" rtlCol="0">
            <a:spAutoFit/>
          </a:bodyPr>
          <a:lstStyle/>
          <a:p>
            <a:pPr fontAlgn="base"/>
            <a:r>
              <a:rPr lang="en-US" dirty="0"/>
              <a:t>The final AI Industry Exposure (AIIE) index for industry </a:t>
            </a:r>
            <a:r>
              <a:rPr lang="en-US" dirty="0" err="1"/>
              <a:t>i</a:t>
            </a:r>
            <a:r>
              <a:rPr lang="en-US" dirty="0"/>
              <a:t> in country c is constructed as a weighted average of the occupational exposure scores. The weights are determined by the share of workers in each occupational group within that specific industry.</a:t>
            </a:r>
          </a:p>
          <a:p>
            <a:r>
              <a:rPr lang="en-US" dirty="0"/>
              <a:t> </a:t>
            </a:r>
          </a:p>
        </p:txBody>
      </p:sp>
      <p:sp>
        <p:nvSpPr>
          <p:cNvPr id="5" name="TextBox 4">
            <a:extLst>
              <a:ext uri="{FF2B5EF4-FFF2-40B4-BE49-F238E27FC236}">
                <a16:creationId xmlns:a16="http://schemas.microsoft.com/office/drawing/2014/main" id="{2EC77638-C07B-2BEB-77AA-185EFD2866FF}"/>
              </a:ext>
            </a:extLst>
          </p:cNvPr>
          <p:cNvSpPr txBox="1"/>
          <p:nvPr/>
        </p:nvSpPr>
        <p:spPr>
          <a:xfrm>
            <a:off x="1203512" y="2716306"/>
            <a:ext cx="3072653" cy="1384995"/>
          </a:xfrm>
          <a:prstGeom prst="rect">
            <a:avLst/>
          </a:prstGeom>
          <a:noFill/>
        </p:spPr>
        <p:txBody>
          <a:bodyPr wrap="square" rtlCol="0">
            <a:spAutoFit/>
          </a:bodyPr>
          <a:lstStyle/>
          <a:p>
            <a:r>
              <a:rPr lang="en-US" dirty="0"/>
              <a:t>Where :</a:t>
            </a:r>
          </a:p>
          <a:p>
            <a:pPr marL="285750" indent="-285750">
              <a:buFont typeface="Arial" panose="020B0604020202020204" pitchFamily="34" charset="0"/>
              <a:buChar char="•"/>
            </a:pPr>
            <a:r>
              <a:rPr lang="en-US" dirty="0"/>
              <a:t>Emp = number of workers of occupation 0 in that industry</a:t>
            </a:r>
          </a:p>
          <a:p>
            <a:pPr marL="285750" indent="-285750">
              <a:buFont typeface="Arial" panose="020B0604020202020204" pitchFamily="34" charset="0"/>
              <a:buChar char="•"/>
            </a:pPr>
            <a:r>
              <a:rPr lang="en-US" dirty="0" err="1"/>
              <a:t>TotalEmp</a:t>
            </a:r>
            <a:r>
              <a:rPr lang="en-US" dirty="0"/>
              <a:t> = number of workers in that industry</a:t>
            </a:r>
          </a:p>
          <a:p>
            <a:pPr marL="285750" indent="-285750">
              <a:buFont typeface="Arial" panose="020B0604020202020204" pitchFamily="34" charset="0"/>
              <a:buChar char="•"/>
            </a:pPr>
            <a:r>
              <a:rPr lang="en-US" dirty="0"/>
              <a:t>S = normalized score </a:t>
            </a:r>
          </a:p>
        </p:txBody>
      </p:sp>
      <p:sp>
        <p:nvSpPr>
          <p:cNvPr id="6" name="TextBox 5">
            <a:extLst>
              <a:ext uri="{FF2B5EF4-FFF2-40B4-BE49-F238E27FC236}">
                <a16:creationId xmlns:a16="http://schemas.microsoft.com/office/drawing/2014/main" id="{FFD424B8-30C7-74D4-7C0F-919B969ED287}"/>
              </a:ext>
            </a:extLst>
          </p:cNvPr>
          <p:cNvSpPr txBox="1"/>
          <p:nvPr/>
        </p:nvSpPr>
        <p:spPr>
          <a:xfrm>
            <a:off x="5533465" y="834353"/>
            <a:ext cx="2164976" cy="954107"/>
          </a:xfrm>
          <a:prstGeom prst="rect">
            <a:avLst/>
          </a:prstGeom>
          <a:noFill/>
        </p:spPr>
        <p:txBody>
          <a:bodyPr wrap="square" rtlCol="0">
            <a:spAutoFit/>
          </a:bodyPr>
          <a:lstStyle/>
          <a:p>
            <a:r>
              <a:rPr lang="en-US" dirty="0"/>
              <a:t>Before inserting </a:t>
            </a:r>
            <a:r>
              <a:rPr lang="en-US" dirty="0" err="1"/>
              <a:t>felten</a:t>
            </a:r>
            <a:r>
              <a:rPr lang="en-US" dirty="0"/>
              <a:t> ai scores they were normalized to a 0-1 scale as follows:</a:t>
            </a:r>
          </a:p>
        </p:txBody>
      </p:sp>
      <p:sp>
        <p:nvSpPr>
          <p:cNvPr id="8" name="TextBox 7">
            <a:extLst>
              <a:ext uri="{FF2B5EF4-FFF2-40B4-BE49-F238E27FC236}">
                <a16:creationId xmlns:a16="http://schemas.microsoft.com/office/drawing/2014/main" id="{268F1432-15EE-C983-C60E-370251D01733}"/>
              </a:ext>
            </a:extLst>
          </p:cNvPr>
          <p:cNvSpPr txBox="1"/>
          <p:nvPr/>
        </p:nvSpPr>
        <p:spPr>
          <a:xfrm>
            <a:off x="5446059" y="3036899"/>
            <a:ext cx="2662517" cy="1169551"/>
          </a:xfrm>
          <a:prstGeom prst="rect">
            <a:avLst/>
          </a:prstGeom>
          <a:noFill/>
        </p:spPr>
        <p:txBody>
          <a:bodyPr wrap="square" rtlCol="0">
            <a:spAutoFit/>
          </a:bodyPr>
          <a:lstStyle/>
          <a:p>
            <a:r>
              <a:rPr lang="en-US" dirty="0"/>
              <a:t>Filter 2022 weights : we utilize 2022 weights instead of post 2022 data , because the post data would already reflect the firm reaction to AI </a:t>
            </a:r>
          </a:p>
        </p:txBody>
      </p:sp>
      <p:pic>
        <p:nvPicPr>
          <p:cNvPr id="10" name="Picture 9">
            <a:extLst>
              <a:ext uri="{FF2B5EF4-FFF2-40B4-BE49-F238E27FC236}">
                <a16:creationId xmlns:a16="http://schemas.microsoft.com/office/drawing/2014/main" id="{A751BAEE-0F8A-4F72-2E11-FDF1BC9CDDE3}"/>
              </a:ext>
            </a:extLst>
          </p:cNvPr>
          <p:cNvPicPr>
            <a:picLocks noChangeAspect="1"/>
          </p:cNvPicPr>
          <p:nvPr/>
        </p:nvPicPr>
        <p:blipFill>
          <a:blip r:embed="rId2"/>
          <a:stretch>
            <a:fillRect/>
          </a:stretch>
        </p:blipFill>
        <p:spPr>
          <a:xfrm>
            <a:off x="907311" y="1743075"/>
            <a:ext cx="4431783" cy="828675"/>
          </a:xfrm>
          <a:prstGeom prst="rect">
            <a:avLst/>
          </a:prstGeom>
        </p:spPr>
      </p:pic>
      <p:pic>
        <p:nvPicPr>
          <p:cNvPr id="12" name="Picture 11">
            <a:extLst>
              <a:ext uri="{FF2B5EF4-FFF2-40B4-BE49-F238E27FC236}">
                <a16:creationId xmlns:a16="http://schemas.microsoft.com/office/drawing/2014/main" id="{4E360342-EAE0-926C-28A5-8AB80FB55995}"/>
              </a:ext>
            </a:extLst>
          </p:cNvPr>
          <p:cNvPicPr>
            <a:picLocks noChangeAspect="1"/>
          </p:cNvPicPr>
          <p:nvPr/>
        </p:nvPicPr>
        <p:blipFill>
          <a:blip r:embed="rId3"/>
          <a:stretch>
            <a:fillRect/>
          </a:stretch>
        </p:blipFill>
        <p:spPr>
          <a:xfrm>
            <a:off x="5634878" y="1992713"/>
            <a:ext cx="1962150" cy="828675"/>
          </a:xfrm>
          <a:prstGeom prst="rect">
            <a:avLst/>
          </a:prstGeom>
        </p:spPr>
      </p:pic>
    </p:spTree>
    <p:extLst>
      <p:ext uri="{BB962C8B-B14F-4D97-AF65-F5344CB8AC3E}">
        <p14:creationId xmlns:p14="http://schemas.microsoft.com/office/powerpoint/2010/main" val="1466635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7" name="Picture 6">
            <a:extLst>
              <a:ext uri="{FF2B5EF4-FFF2-40B4-BE49-F238E27FC236}">
                <a16:creationId xmlns:a16="http://schemas.microsoft.com/office/drawing/2014/main" id="{29B2C17F-D0D2-D9EC-556D-B5B02705957C}"/>
              </a:ext>
            </a:extLst>
          </p:cNvPr>
          <p:cNvPicPr>
            <a:picLocks noChangeAspect="1"/>
          </p:cNvPicPr>
          <p:nvPr/>
        </p:nvPicPr>
        <p:blipFill>
          <a:blip r:embed="rId3"/>
          <a:stretch>
            <a:fillRect/>
          </a:stretch>
        </p:blipFill>
        <p:spPr>
          <a:xfrm>
            <a:off x="834176" y="1918177"/>
            <a:ext cx="4769102" cy="2619447"/>
          </a:xfrm>
          <a:prstGeom prst="rect">
            <a:avLst/>
          </a:prstGeom>
        </p:spPr>
      </p:pic>
      <p:sp>
        <p:nvSpPr>
          <p:cNvPr id="8" name="TextBox 7">
            <a:extLst>
              <a:ext uri="{FF2B5EF4-FFF2-40B4-BE49-F238E27FC236}">
                <a16:creationId xmlns:a16="http://schemas.microsoft.com/office/drawing/2014/main" id="{8CC1C2E1-218A-9422-33A2-86EED0CEBF3E}"/>
              </a:ext>
            </a:extLst>
          </p:cNvPr>
          <p:cNvSpPr txBox="1"/>
          <p:nvPr/>
        </p:nvSpPr>
        <p:spPr>
          <a:xfrm>
            <a:off x="5548278" y="605876"/>
            <a:ext cx="2864674" cy="4093428"/>
          </a:xfrm>
          <a:prstGeom prst="rect">
            <a:avLst/>
          </a:prstGeom>
          <a:noFill/>
        </p:spPr>
        <p:txBody>
          <a:bodyPr wrap="square" rtlCol="0">
            <a:spAutoFit/>
          </a:bodyPr>
          <a:lstStyle/>
          <a:p>
            <a:pPr algn="just"/>
            <a:r>
              <a:rPr lang="en-US" sz="1000" dirty="0"/>
              <a:t>J = Information and communication </a:t>
            </a:r>
          </a:p>
          <a:p>
            <a:pPr algn="just"/>
            <a:r>
              <a:rPr lang="en-US" sz="1000" dirty="0"/>
              <a:t>M = Professional, scientific and technical activities </a:t>
            </a:r>
          </a:p>
          <a:p>
            <a:pPr algn="just"/>
            <a:r>
              <a:rPr lang="en-US" sz="1000" dirty="0"/>
              <a:t>P = Education</a:t>
            </a:r>
          </a:p>
          <a:p>
            <a:pPr algn="just"/>
            <a:r>
              <a:rPr lang="en-US" sz="1000" dirty="0"/>
              <a:t>K = Financial and insurance activities</a:t>
            </a:r>
          </a:p>
          <a:p>
            <a:pPr algn="just"/>
            <a:r>
              <a:rPr lang="en-US" sz="1000" dirty="0"/>
              <a:t>R = Arts, entertainment and recreation </a:t>
            </a:r>
          </a:p>
          <a:p>
            <a:pPr algn="just"/>
            <a:r>
              <a:rPr lang="en-US" sz="1000" dirty="0"/>
              <a:t>O = Public administration and defense; compulsory social security </a:t>
            </a:r>
          </a:p>
          <a:p>
            <a:pPr algn="just"/>
            <a:r>
              <a:rPr lang="en-US" sz="1000" dirty="0"/>
              <a:t>Q = Human health and social work activities </a:t>
            </a:r>
          </a:p>
          <a:p>
            <a:pPr algn="just"/>
            <a:r>
              <a:rPr lang="en-US" sz="1000" dirty="0"/>
              <a:t>L = Real estate activities </a:t>
            </a:r>
          </a:p>
          <a:p>
            <a:pPr algn="just"/>
            <a:r>
              <a:rPr lang="en-US" sz="1000" dirty="0"/>
              <a:t>D = Electricity, gas, steam and air conditioning supply </a:t>
            </a:r>
          </a:p>
          <a:p>
            <a:pPr algn="just"/>
            <a:r>
              <a:rPr lang="en-US" sz="1000" dirty="0"/>
              <a:t>S = Other service activities </a:t>
            </a:r>
          </a:p>
          <a:p>
            <a:pPr algn="just"/>
            <a:r>
              <a:rPr lang="en-US" sz="1000" dirty="0"/>
              <a:t>G = Wholesale and retail trade; repair of motor vehicles and motorcycles </a:t>
            </a:r>
          </a:p>
          <a:p>
            <a:pPr algn="just"/>
            <a:r>
              <a:rPr lang="en-US" sz="1000" dirty="0"/>
              <a:t>I = Accommodation and food service activities </a:t>
            </a:r>
          </a:p>
          <a:p>
            <a:pPr algn="just"/>
            <a:r>
              <a:rPr lang="en-US" sz="1000" dirty="0"/>
              <a:t>N = Administrative and support service activities </a:t>
            </a:r>
          </a:p>
          <a:p>
            <a:pPr algn="just"/>
            <a:r>
              <a:rPr lang="en-US" sz="1000" dirty="0"/>
              <a:t>H = Transportation and storage </a:t>
            </a:r>
          </a:p>
          <a:p>
            <a:pPr algn="just"/>
            <a:r>
              <a:rPr lang="en-US" sz="1000" dirty="0"/>
              <a:t>C = Manufacturing </a:t>
            </a:r>
          </a:p>
          <a:p>
            <a:pPr algn="just"/>
            <a:r>
              <a:rPr lang="en-US" sz="1000" dirty="0"/>
              <a:t>E = Water supply; sewerage, waste management and remediation activities </a:t>
            </a:r>
          </a:p>
          <a:p>
            <a:pPr algn="just"/>
            <a:r>
              <a:rPr lang="en-US" sz="1000" dirty="0"/>
              <a:t>F = Construction </a:t>
            </a:r>
          </a:p>
          <a:p>
            <a:pPr algn="just"/>
            <a:r>
              <a:rPr lang="en-US" sz="1000" dirty="0"/>
              <a:t>B = Mining and quarrying </a:t>
            </a:r>
          </a:p>
          <a:p>
            <a:pPr algn="just"/>
            <a:r>
              <a:rPr lang="en-US" sz="1000" dirty="0"/>
              <a:t>T = Activities of households as employers </a:t>
            </a:r>
          </a:p>
          <a:p>
            <a:pPr algn="just"/>
            <a:r>
              <a:rPr lang="en-US" sz="1000" dirty="0"/>
              <a:t>A = Agriculture, forestry and fishing</a:t>
            </a:r>
          </a:p>
        </p:txBody>
      </p:sp>
      <p:sp>
        <p:nvSpPr>
          <p:cNvPr id="9" name="TextBox 8">
            <a:extLst>
              <a:ext uri="{FF2B5EF4-FFF2-40B4-BE49-F238E27FC236}">
                <a16:creationId xmlns:a16="http://schemas.microsoft.com/office/drawing/2014/main" id="{1FED7DAC-600F-A1A2-61D3-CAF2BB0DBCD3}"/>
              </a:ext>
            </a:extLst>
          </p:cNvPr>
          <p:cNvSpPr txBox="1"/>
          <p:nvPr/>
        </p:nvSpPr>
        <p:spPr>
          <a:xfrm>
            <a:off x="1163676" y="800361"/>
            <a:ext cx="3657600" cy="307777"/>
          </a:xfrm>
          <a:prstGeom prst="rect">
            <a:avLst/>
          </a:prstGeom>
          <a:noFill/>
        </p:spPr>
        <p:txBody>
          <a:bodyPr wrap="square" rtlCol="0">
            <a:spAutoFit/>
          </a:bodyPr>
          <a:lstStyle/>
          <a:p>
            <a:r>
              <a:rPr lang="en-US" dirty="0"/>
              <a:t>Validating the AI industry exposure variable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A61283D-1C49-701C-FDD1-8B10D22D1102}"/>
              </a:ext>
            </a:extLst>
          </p:cNvPr>
          <p:cNvSpPr txBox="1"/>
          <p:nvPr/>
        </p:nvSpPr>
        <p:spPr>
          <a:xfrm>
            <a:off x="1203511" y="753035"/>
            <a:ext cx="3737084" cy="523220"/>
          </a:xfrm>
          <a:prstGeom prst="rect">
            <a:avLst/>
          </a:prstGeom>
          <a:noFill/>
        </p:spPr>
        <p:txBody>
          <a:bodyPr wrap="square" rtlCol="0">
            <a:spAutoFit/>
          </a:bodyPr>
          <a:lstStyle/>
          <a:p>
            <a:r>
              <a:rPr lang="en-US" b="1" dirty="0"/>
              <a:t>Outcome variable : labor productivity</a:t>
            </a:r>
          </a:p>
          <a:p>
            <a:endParaRPr lang="en-US" b="1" dirty="0"/>
          </a:p>
        </p:txBody>
      </p:sp>
      <p:sp>
        <p:nvSpPr>
          <p:cNvPr id="8" name="TextBox 7">
            <a:extLst>
              <a:ext uri="{FF2B5EF4-FFF2-40B4-BE49-F238E27FC236}">
                <a16:creationId xmlns:a16="http://schemas.microsoft.com/office/drawing/2014/main" id="{04417BED-FA3A-5C73-3C5F-5005DDF2152E}"/>
              </a:ext>
            </a:extLst>
          </p:cNvPr>
          <p:cNvSpPr txBox="1"/>
          <p:nvPr/>
        </p:nvSpPr>
        <p:spPr>
          <a:xfrm>
            <a:off x="1294839" y="2333065"/>
            <a:ext cx="4581525" cy="954107"/>
          </a:xfrm>
          <a:prstGeom prst="rect">
            <a:avLst/>
          </a:prstGeom>
          <a:noFill/>
        </p:spPr>
        <p:txBody>
          <a:bodyPr wrap="square" rtlCol="0">
            <a:spAutoFit/>
          </a:bodyPr>
          <a:lstStyle/>
          <a:p>
            <a:pPr marL="285750" indent="-285750">
              <a:buFont typeface="Arial" panose="020B0604020202020204" pitchFamily="34" charset="0"/>
              <a:buChar char="•"/>
            </a:pPr>
            <a:r>
              <a:rPr lang="en-US" dirty="0"/>
              <a:t>Real GVA : gross value added in Chain-Linked Volumes (Millions of Euros).</a:t>
            </a:r>
          </a:p>
          <a:p>
            <a:pPr marL="285750" indent="-285750">
              <a:buFont typeface="Arial" panose="020B0604020202020204" pitchFamily="34" charset="0"/>
              <a:buChar char="•"/>
            </a:pPr>
            <a:r>
              <a:rPr lang="en-US" dirty="0"/>
              <a:t>Total hours worked : Thousands of Hours</a:t>
            </a:r>
          </a:p>
          <a:p>
            <a:r>
              <a:rPr lang="en-US" dirty="0"/>
              <a:t> </a:t>
            </a:r>
          </a:p>
        </p:txBody>
      </p:sp>
      <p:pic>
        <p:nvPicPr>
          <p:cNvPr id="3" name="Picture 2">
            <a:extLst>
              <a:ext uri="{FF2B5EF4-FFF2-40B4-BE49-F238E27FC236}">
                <a16:creationId xmlns:a16="http://schemas.microsoft.com/office/drawing/2014/main" id="{3539EA9C-B6E7-8207-2E6F-22752A6C384B}"/>
              </a:ext>
            </a:extLst>
          </p:cNvPr>
          <p:cNvPicPr>
            <a:picLocks noChangeAspect="1"/>
          </p:cNvPicPr>
          <p:nvPr/>
        </p:nvPicPr>
        <p:blipFill>
          <a:blip r:embed="rId2"/>
          <a:stretch>
            <a:fillRect/>
          </a:stretch>
        </p:blipFill>
        <p:spPr>
          <a:xfrm>
            <a:off x="1385223" y="1343246"/>
            <a:ext cx="4105275" cy="571500"/>
          </a:xfrm>
          <a:prstGeom prst="rect">
            <a:avLst/>
          </a:prstGeom>
        </p:spPr>
      </p:pic>
    </p:spTree>
    <p:extLst>
      <p:ext uri="{BB962C8B-B14F-4D97-AF65-F5344CB8AC3E}">
        <p14:creationId xmlns:p14="http://schemas.microsoft.com/office/powerpoint/2010/main" val="409690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2BF6A3-2AAF-3052-328D-AC55CB29E44E}"/>
              </a:ext>
            </a:extLst>
          </p:cNvPr>
          <p:cNvPicPr>
            <a:picLocks noChangeAspect="1"/>
          </p:cNvPicPr>
          <p:nvPr/>
        </p:nvPicPr>
        <p:blipFill>
          <a:blip r:embed="rId2"/>
          <a:stretch>
            <a:fillRect/>
          </a:stretch>
        </p:blipFill>
        <p:spPr>
          <a:xfrm>
            <a:off x="814123" y="1459005"/>
            <a:ext cx="7515754" cy="3052482"/>
          </a:xfrm>
          <a:prstGeom prst="rect">
            <a:avLst/>
          </a:prstGeom>
        </p:spPr>
      </p:pic>
      <p:sp>
        <p:nvSpPr>
          <p:cNvPr id="5" name="TextBox 4">
            <a:extLst>
              <a:ext uri="{FF2B5EF4-FFF2-40B4-BE49-F238E27FC236}">
                <a16:creationId xmlns:a16="http://schemas.microsoft.com/office/drawing/2014/main" id="{FE142BFE-5B79-00C6-2D64-BC4B40E40509}"/>
              </a:ext>
            </a:extLst>
          </p:cNvPr>
          <p:cNvSpPr txBox="1"/>
          <p:nvPr/>
        </p:nvSpPr>
        <p:spPr>
          <a:xfrm>
            <a:off x="961465" y="672353"/>
            <a:ext cx="4444253" cy="307777"/>
          </a:xfrm>
          <a:prstGeom prst="rect">
            <a:avLst/>
          </a:prstGeom>
          <a:noFill/>
        </p:spPr>
        <p:txBody>
          <a:bodyPr wrap="square" rtlCol="0">
            <a:spAutoFit/>
          </a:bodyPr>
          <a:lstStyle/>
          <a:p>
            <a:r>
              <a:rPr lang="en-US" dirty="0"/>
              <a:t>Distribution of the variables </a:t>
            </a:r>
          </a:p>
        </p:txBody>
      </p:sp>
    </p:spTree>
    <p:extLst>
      <p:ext uri="{BB962C8B-B14F-4D97-AF65-F5344CB8AC3E}">
        <p14:creationId xmlns:p14="http://schemas.microsoft.com/office/powerpoint/2010/main" val="598317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7E38E6-5AAC-923D-49B1-71BBD67CF033}"/>
              </a:ext>
            </a:extLst>
          </p:cNvPr>
          <p:cNvSpPr txBox="1"/>
          <p:nvPr/>
        </p:nvSpPr>
        <p:spPr>
          <a:xfrm>
            <a:off x="981635" y="652183"/>
            <a:ext cx="3590365" cy="307777"/>
          </a:xfrm>
          <a:prstGeom prst="rect">
            <a:avLst/>
          </a:prstGeom>
          <a:noFill/>
        </p:spPr>
        <p:txBody>
          <a:bodyPr wrap="square" rtlCol="0">
            <a:spAutoFit/>
          </a:bodyPr>
          <a:lstStyle/>
          <a:p>
            <a:r>
              <a:rPr lang="en-US" dirty="0"/>
              <a:t>Log transformation for Labor productivity</a:t>
            </a:r>
          </a:p>
        </p:txBody>
      </p:sp>
      <p:pic>
        <p:nvPicPr>
          <p:cNvPr id="6" name="Picture 5">
            <a:extLst>
              <a:ext uri="{FF2B5EF4-FFF2-40B4-BE49-F238E27FC236}">
                <a16:creationId xmlns:a16="http://schemas.microsoft.com/office/drawing/2014/main" id="{75DADE06-DD65-713D-8CF1-76E30250885E}"/>
              </a:ext>
            </a:extLst>
          </p:cNvPr>
          <p:cNvPicPr>
            <a:picLocks noChangeAspect="1"/>
          </p:cNvPicPr>
          <p:nvPr/>
        </p:nvPicPr>
        <p:blipFill>
          <a:blip r:embed="rId2"/>
          <a:stretch>
            <a:fillRect/>
          </a:stretch>
        </p:blipFill>
        <p:spPr>
          <a:xfrm>
            <a:off x="813547" y="1040667"/>
            <a:ext cx="7516906" cy="3307439"/>
          </a:xfrm>
          <a:prstGeom prst="rect">
            <a:avLst/>
          </a:prstGeom>
        </p:spPr>
      </p:pic>
    </p:spTree>
    <p:extLst>
      <p:ext uri="{BB962C8B-B14F-4D97-AF65-F5344CB8AC3E}">
        <p14:creationId xmlns:p14="http://schemas.microsoft.com/office/powerpoint/2010/main" val="3488279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74DEB1-6DFF-AB98-F1A3-3F1050C4E76C}"/>
              </a:ext>
            </a:extLst>
          </p:cNvPr>
          <p:cNvSpPr txBox="1"/>
          <p:nvPr/>
        </p:nvSpPr>
        <p:spPr>
          <a:xfrm>
            <a:off x="894228" y="551853"/>
            <a:ext cx="2218765" cy="307777"/>
          </a:xfrm>
          <a:prstGeom prst="rect">
            <a:avLst/>
          </a:prstGeom>
          <a:noFill/>
        </p:spPr>
        <p:txBody>
          <a:bodyPr wrap="square" rtlCol="0">
            <a:spAutoFit/>
          </a:bodyPr>
          <a:lstStyle/>
          <a:p>
            <a:r>
              <a:rPr lang="en-US" dirty="0"/>
              <a:t>Descriptive statistics </a:t>
            </a:r>
          </a:p>
        </p:txBody>
      </p:sp>
      <p:pic>
        <p:nvPicPr>
          <p:cNvPr id="5" name="Picture 4">
            <a:extLst>
              <a:ext uri="{FF2B5EF4-FFF2-40B4-BE49-F238E27FC236}">
                <a16:creationId xmlns:a16="http://schemas.microsoft.com/office/drawing/2014/main" id="{C10582B3-5DCF-2C0A-0CDF-0947803C6F52}"/>
              </a:ext>
            </a:extLst>
          </p:cNvPr>
          <p:cNvPicPr>
            <a:picLocks noChangeAspect="1"/>
          </p:cNvPicPr>
          <p:nvPr/>
        </p:nvPicPr>
        <p:blipFill>
          <a:blip r:embed="rId2"/>
          <a:stretch>
            <a:fillRect/>
          </a:stretch>
        </p:blipFill>
        <p:spPr>
          <a:xfrm>
            <a:off x="979123" y="859630"/>
            <a:ext cx="4944308" cy="776556"/>
          </a:xfrm>
          <a:prstGeom prst="rect">
            <a:avLst/>
          </a:prstGeom>
        </p:spPr>
      </p:pic>
      <p:pic>
        <p:nvPicPr>
          <p:cNvPr id="6" name="Picture 5">
            <a:extLst>
              <a:ext uri="{FF2B5EF4-FFF2-40B4-BE49-F238E27FC236}">
                <a16:creationId xmlns:a16="http://schemas.microsoft.com/office/drawing/2014/main" id="{CB142386-37AA-0B92-9C6F-81890B23DC07}"/>
              </a:ext>
            </a:extLst>
          </p:cNvPr>
          <p:cNvPicPr>
            <a:picLocks noChangeAspect="1"/>
          </p:cNvPicPr>
          <p:nvPr/>
        </p:nvPicPr>
        <p:blipFill>
          <a:blip r:embed="rId3"/>
          <a:stretch>
            <a:fillRect/>
          </a:stretch>
        </p:blipFill>
        <p:spPr>
          <a:xfrm>
            <a:off x="894228" y="1684044"/>
            <a:ext cx="5291419" cy="2870137"/>
          </a:xfrm>
          <a:prstGeom prst="rect">
            <a:avLst/>
          </a:prstGeom>
        </p:spPr>
      </p:pic>
      <p:sp>
        <p:nvSpPr>
          <p:cNvPr id="2" name="TextBox 1">
            <a:extLst>
              <a:ext uri="{FF2B5EF4-FFF2-40B4-BE49-F238E27FC236}">
                <a16:creationId xmlns:a16="http://schemas.microsoft.com/office/drawing/2014/main" id="{E5FBD315-AED6-89B3-CD35-8D73527D7F5E}"/>
              </a:ext>
            </a:extLst>
          </p:cNvPr>
          <p:cNvSpPr txBox="1"/>
          <p:nvPr/>
        </p:nvSpPr>
        <p:spPr>
          <a:xfrm>
            <a:off x="5833731" y="1524000"/>
            <a:ext cx="2517780" cy="2031325"/>
          </a:xfrm>
          <a:prstGeom prst="rect">
            <a:avLst/>
          </a:prstGeom>
          <a:noFill/>
        </p:spPr>
        <p:txBody>
          <a:bodyPr wrap="square" rtlCol="0">
            <a:spAutoFit/>
          </a:bodyPr>
          <a:lstStyle/>
          <a:p>
            <a:r>
              <a:rPr lang="en-US" dirty="0"/>
              <a:t>The validity of the difference in difference (</a:t>
            </a:r>
            <a:r>
              <a:rPr lang="en-US" dirty="0" err="1"/>
              <a:t>DiD</a:t>
            </a:r>
            <a:r>
              <a:rPr lang="en-US" dirty="0"/>
              <a:t>) estimator relies on the assumption that, in the absence of the treatment, high and low exposure industries would have followed similar productivity trends.</a:t>
            </a:r>
          </a:p>
          <a:p>
            <a:endParaRPr lang="bg-BG" dirty="0"/>
          </a:p>
        </p:txBody>
      </p:sp>
    </p:spTree>
    <p:extLst>
      <p:ext uri="{BB962C8B-B14F-4D97-AF65-F5344CB8AC3E}">
        <p14:creationId xmlns:p14="http://schemas.microsoft.com/office/powerpoint/2010/main" val="3876358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DDFB19-94AD-947D-A8E4-34DC804C54BD}"/>
              </a:ext>
            </a:extLst>
          </p:cNvPr>
          <p:cNvSpPr txBox="1"/>
          <p:nvPr/>
        </p:nvSpPr>
        <p:spPr>
          <a:xfrm>
            <a:off x="1302906" y="578961"/>
            <a:ext cx="2380129" cy="307777"/>
          </a:xfrm>
          <a:prstGeom prst="rect">
            <a:avLst/>
          </a:prstGeom>
          <a:noFill/>
        </p:spPr>
        <p:txBody>
          <a:bodyPr wrap="square" rtlCol="0">
            <a:spAutoFit/>
          </a:bodyPr>
          <a:lstStyle/>
          <a:p>
            <a:r>
              <a:rPr lang="en-US" b="1" dirty="0"/>
              <a:t>Model formula :</a:t>
            </a:r>
          </a:p>
        </p:txBody>
      </p:sp>
      <p:pic>
        <p:nvPicPr>
          <p:cNvPr id="5" name="Picture 4">
            <a:extLst>
              <a:ext uri="{FF2B5EF4-FFF2-40B4-BE49-F238E27FC236}">
                <a16:creationId xmlns:a16="http://schemas.microsoft.com/office/drawing/2014/main" id="{BB4B45B1-1ABA-CF65-CD2A-C49104F385F2}"/>
              </a:ext>
            </a:extLst>
          </p:cNvPr>
          <p:cNvPicPr>
            <a:picLocks noChangeAspect="1"/>
          </p:cNvPicPr>
          <p:nvPr/>
        </p:nvPicPr>
        <p:blipFill>
          <a:blip r:embed="rId2"/>
          <a:stretch>
            <a:fillRect/>
          </a:stretch>
        </p:blipFill>
        <p:spPr>
          <a:xfrm>
            <a:off x="1443813" y="1298481"/>
            <a:ext cx="3619500" cy="542925"/>
          </a:xfrm>
          <a:prstGeom prst="rect">
            <a:avLst/>
          </a:prstGeom>
        </p:spPr>
      </p:pic>
      <p:pic>
        <p:nvPicPr>
          <p:cNvPr id="8" name="Picture 7">
            <a:extLst>
              <a:ext uri="{FF2B5EF4-FFF2-40B4-BE49-F238E27FC236}">
                <a16:creationId xmlns:a16="http://schemas.microsoft.com/office/drawing/2014/main" id="{1594B2E4-133A-8F56-584E-8B2C4360947C}"/>
              </a:ext>
            </a:extLst>
          </p:cNvPr>
          <p:cNvPicPr>
            <a:picLocks noChangeAspect="1"/>
          </p:cNvPicPr>
          <p:nvPr/>
        </p:nvPicPr>
        <p:blipFill>
          <a:blip r:embed="rId3"/>
          <a:stretch>
            <a:fillRect/>
          </a:stretch>
        </p:blipFill>
        <p:spPr>
          <a:xfrm>
            <a:off x="1119963" y="918504"/>
            <a:ext cx="5985797" cy="3566199"/>
          </a:xfrm>
          <a:prstGeom prst="rect">
            <a:avLst/>
          </a:prstGeom>
        </p:spPr>
      </p:pic>
    </p:spTree>
    <p:extLst>
      <p:ext uri="{BB962C8B-B14F-4D97-AF65-F5344CB8AC3E}">
        <p14:creationId xmlns:p14="http://schemas.microsoft.com/office/powerpoint/2010/main" val="542622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2EFDF-F680-91C5-FB4D-60BBFE865CBB}"/>
              </a:ext>
            </a:extLst>
          </p:cNvPr>
          <p:cNvPicPr>
            <a:picLocks noChangeAspect="1"/>
          </p:cNvPicPr>
          <p:nvPr/>
        </p:nvPicPr>
        <p:blipFill>
          <a:blip r:embed="rId2"/>
          <a:stretch>
            <a:fillRect/>
          </a:stretch>
        </p:blipFill>
        <p:spPr>
          <a:xfrm>
            <a:off x="876078" y="1034791"/>
            <a:ext cx="6838950" cy="3343275"/>
          </a:xfrm>
          <a:prstGeom prst="rect">
            <a:avLst/>
          </a:prstGeom>
        </p:spPr>
      </p:pic>
      <p:sp>
        <p:nvSpPr>
          <p:cNvPr id="6" name="TextBox 5">
            <a:extLst>
              <a:ext uri="{FF2B5EF4-FFF2-40B4-BE49-F238E27FC236}">
                <a16:creationId xmlns:a16="http://schemas.microsoft.com/office/drawing/2014/main" id="{54B62278-3E47-8CE8-1B6D-9CEE9DAB3C2C}"/>
              </a:ext>
            </a:extLst>
          </p:cNvPr>
          <p:cNvSpPr txBox="1"/>
          <p:nvPr/>
        </p:nvSpPr>
        <p:spPr>
          <a:xfrm>
            <a:off x="1049079" y="668307"/>
            <a:ext cx="4026195" cy="307777"/>
          </a:xfrm>
          <a:prstGeom prst="rect">
            <a:avLst/>
          </a:prstGeom>
          <a:noFill/>
        </p:spPr>
        <p:txBody>
          <a:bodyPr wrap="square" rtlCol="0">
            <a:spAutoFit/>
          </a:bodyPr>
          <a:lstStyle/>
          <a:p>
            <a:r>
              <a:rPr lang="en-US" b="1" dirty="0"/>
              <a:t>Models Table:</a:t>
            </a:r>
            <a:endParaRPr lang="bg-BG" b="1" dirty="0"/>
          </a:p>
        </p:txBody>
      </p:sp>
    </p:spTree>
    <p:extLst>
      <p:ext uri="{BB962C8B-B14F-4D97-AF65-F5344CB8AC3E}">
        <p14:creationId xmlns:p14="http://schemas.microsoft.com/office/powerpoint/2010/main" val="18205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120898-96E2-421C-B266-E3F222063EE6}"/>
              </a:ext>
            </a:extLst>
          </p:cNvPr>
          <p:cNvSpPr txBox="1"/>
          <p:nvPr/>
        </p:nvSpPr>
        <p:spPr>
          <a:xfrm>
            <a:off x="1317811" y="948018"/>
            <a:ext cx="2070847" cy="307777"/>
          </a:xfrm>
          <a:prstGeom prst="rect">
            <a:avLst/>
          </a:prstGeom>
          <a:noFill/>
        </p:spPr>
        <p:txBody>
          <a:bodyPr wrap="square" rtlCol="0">
            <a:spAutoFit/>
          </a:bodyPr>
          <a:lstStyle/>
          <a:p>
            <a:r>
              <a:rPr lang="en-US" b="1" dirty="0"/>
              <a:t>Interpretation model 2</a:t>
            </a:r>
          </a:p>
        </p:txBody>
      </p:sp>
      <p:sp>
        <p:nvSpPr>
          <p:cNvPr id="5" name="TextBox 4">
            <a:extLst>
              <a:ext uri="{FF2B5EF4-FFF2-40B4-BE49-F238E27FC236}">
                <a16:creationId xmlns:a16="http://schemas.microsoft.com/office/drawing/2014/main" id="{23951988-AFC3-9815-ECBA-4E032868A4B4}"/>
              </a:ext>
            </a:extLst>
          </p:cNvPr>
          <p:cNvSpPr txBox="1"/>
          <p:nvPr/>
        </p:nvSpPr>
        <p:spPr>
          <a:xfrm>
            <a:off x="1578100" y="1334226"/>
            <a:ext cx="4642596" cy="821059"/>
          </a:xfrm>
          <a:prstGeom prst="rect">
            <a:avLst/>
          </a:prstGeom>
          <a:noFill/>
        </p:spPr>
        <p:txBody>
          <a:bodyPr wrap="square">
            <a:spAutoFit/>
          </a:bodyPr>
          <a:lstStyle/>
          <a:p>
            <a:pPr marR="0" lvl="0">
              <a:lnSpc>
                <a:spcPct val="115000"/>
              </a:lnSpc>
              <a:spcAft>
                <a:spcPts val="800"/>
              </a:spcAft>
              <a:buSzPts val="1000"/>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Following the 2023 shock, industries with higher AI exposure experienced a massive relative increase in real economic output.</a:t>
            </a:r>
          </a:p>
        </p:txBody>
      </p:sp>
      <p:sp>
        <p:nvSpPr>
          <p:cNvPr id="6" name="TextBox 5">
            <a:extLst>
              <a:ext uri="{FF2B5EF4-FFF2-40B4-BE49-F238E27FC236}">
                <a16:creationId xmlns:a16="http://schemas.microsoft.com/office/drawing/2014/main" id="{2F985C91-8451-AA46-2D10-615BB59822CC}"/>
              </a:ext>
            </a:extLst>
          </p:cNvPr>
          <p:cNvSpPr txBox="1"/>
          <p:nvPr/>
        </p:nvSpPr>
        <p:spPr>
          <a:xfrm>
            <a:off x="1317810" y="2140341"/>
            <a:ext cx="2070847" cy="307777"/>
          </a:xfrm>
          <a:prstGeom prst="rect">
            <a:avLst/>
          </a:prstGeom>
          <a:noFill/>
        </p:spPr>
        <p:txBody>
          <a:bodyPr wrap="square" rtlCol="0">
            <a:spAutoFit/>
          </a:bodyPr>
          <a:lstStyle/>
          <a:p>
            <a:r>
              <a:rPr lang="en-US" b="1" dirty="0"/>
              <a:t>Interpretation model 3</a:t>
            </a:r>
          </a:p>
        </p:txBody>
      </p:sp>
      <p:sp>
        <p:nvSpPr>
          <p:cNvPr id="8" name="TextBox 7">
            <a:extLst>
              <a:ext uri="{FF2B5EF4-FFF2-40B4-BE49-F238E27FC236}">
                <a16:creationId xmlns:a16="http://schemas.microsoft.com/office/drawing/2014/main" id="{C9370071-8367-4616-C530-56047017B4A8}"/>
              </a:ext>
            </a:extLst>
          </p:cNvPr>
          <p:cNvSpPr txBox="1"/>
          <p:nvPr/>
        </p:nvSpPr>
        <p:spPr>
          <a:xfrm>
            <a:off x="1656071" y="2457077"/>
            <a:ext cx="4642596" cy="307777"/>
          </a:xfrm>
          <a:prstGeom prst="rect">
            <a:avLst/>
          </a:prstGeom>
          <a:noFill/>
        </p:spPr>
        <p:txBody>
          <a:bodyPr wrap="square">
            <a:spAutoFit/>
          </a:bodyPr>
          <a:lstStyle/>
          <a:p>
            <a:r>
              <a:rPr lang="en-US" sz="1400" dirty="0">
                <a:effectLst/>
                <a:latin typeface="Calibri" panose="020F0502020204030204" pitchFamily="34" charset="0"/>
                <a:ea typeface="Calibri" panose="020F0502020204030204" pitchFamily="34" charset="0"/>
                <a:cs typeface="Times New Roman" panose="02020603050405020304" pitchFamily="18" charset="0"/>
              </a:rPr>
              <a:t>High-AI industries significantly increased their labor demand.</a:t>
            </a:r>
            <a:endParaRPr lang="en-US" dirty="0"/>
          </a:p>
        </p:txBody>
      </p:sp>
      <p:sp>
        <p:nvSpPr>
          <p:cNvPr id="9" name="TextBox 8">
            <a:extLst>
              <a:ext uri="{FF2B5EF4-FFF2-40B4-BE49-F238E27FC236}">
                <a16:creationId xmlns:a16="http://schemas.microsoft.com/office/drawing/2014/main" id="{170CA524-22F3-B0D4-6876-7DB3A69BE754}"/>
              </a:ext>
            </a:extLst>
          </p:cNvPr>
          <p:cNvSpPr txBox="1"/>
          <p:nvPr/>
        </p:nvSpPr>
        <p:spPr>
          <a:xfrm>
            <a:off x="1317810" y="2957958"/>
            <a:ext cx="2114552" cy="307777"/>
          </a:xfrm>
          <a:prstGeom prst="rect">
            <a:avLst/>
          </a:prstGeom>
          <a:noFill/>
        </p:spPr>
        <p:txBody>
          <a:bodyPr wrap="square" rtlCol="0">
            <a:spAutoFit/>
          </a:bodyPr>
          <a:lstStyle/>
          <a:p>
            <a:r>
              <a:rPr lang="en-US" dirty="0"/>
              <a:t>Results interpretation</a:t>
            </a:r>
          </a:p>
        </p:txBody>
      </p:sp>
      <p:sp>
        <p:nvSpPr>
          <p:cNvPr id="11" name="TextBox 10">
            <a:extLst>
              <a:ext uri="{FF2B5EF4-FFF2-40B4-BE49-F238E27FC236}">
                <a16:creationId xmlns:a16="http://schemas.microsoft.com/office/drawing/2014/main" id="{F538A65D-6BC0-11EE-6E2F-B3ACB24EC531}"/>
              </a:ext>
            </a:extLst>
          </p:cNvPr>
          <p:cNvSpPr txBox="1"/>
          <p:nvPr/>
        </p:nvSpPr>
        <p:spPr>
          <a:xfrm>
            <a:off x="1447239" y="3344166"/>
            <a:ext cx="4642596" cy="1068819"/>
          </a:xfrm>
          <a:prstGeom prst="rect">
            <a:avLst/>
          </a:prstGeom>
          <a:noFill/>
        </p:spPr>
        <p:txBody>
          <a:bodyPr wrap="square">
            <a:spAutoFit/>
          </a:bodyPr>
          <a:lstStyle/>
          <a:p>
            <a:pPr marR="0" lvl="0">
              <a:lnSpc>
                <a:spcPct val="115000"/>
              </a:lnSpc>
              <a:spcAft>
                <a:spcPts val="800"/>
              </a:spcAft>
              <a:buSzPts val="1000"/>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This explains the null result in the baseline model. Since both the numerator (Output) and the denominator (Hours) grew at nearly identical rates about 50% ,the ratio (Productivity) remained flat.</a:t>
            </a:r>
          </a:p>
        </p:txBody>
      </p:sp>
    </p:spTree>
    <p:extLst>
      <p:ext uri="{BB962C8B-B14F-4D97-AF65-F5344CB8AC3E}">
        <p14:creationId xmlns:p14="http://schemas.microsoft.com/office/powerpoint/2010/main" val="3004690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710B18-A81E-8931-51BF-B1383FEC1432}"/>
              </a:ext>
            </a:extLst>
          </p:cNvPr>
          <p:cNvSpPr txBox="1"/>
          <p:nvPr/>
        </p:nvSpPr>
        <p:spPr>
          <a:xfrm>
            <a:off x="948017" y="638735"/>
            <a:ext cx="1969995" cy="307777"/>
          </a:xfrm>
          <a:prstGeom prst="rect">
            <a:avLst/>
          </a:prstGeom>
          <a:noFill/>
        </p:spPr>
        <p:txBody>
          <a:bodyPr wrap="square" rtlCol="0">
            <a:spAutoFit/>
          </a:bodyPr>
          <a:lstStyle/>
          <a:p>
            <a:r>
              <a:rPr lang="en-US" dirty="0"/>
              <a:t>Event study plot</a:t>
            </a:r>
          </a:p>
        </p:txBody>
      </p:sp>
      <p:pic>
        <p:nvPicPr>
          <p:cNvPr id="5" name="Picture 4">
            <a:extLst>
              <a:ext uri="{FF2B5EF4-FFF2-40B4-BE49-F238E27FC236}">
                <a16:creationId xmlns:a16="http://schemas.microsoft.com/office/drawing/2014/main" id="{983928C0-871C-3C12-4A4C-E3B37B4A4839}"/>
              </a:ext>
            </a:extLst>
          </p:cNvPr>
          <p:cNvPicPr>
            <a:picLocks noChangeAspect="1"/>
          </p:cNvPicPr>
          <p:nvPr/>
        </p:nvPicPr>
        <p:blipFill>
          <a:blip r:embed="rId2"/>
          <a:stretch>
            <a:fillRect/>
          </a:stretch>
        </p:blipFill>
        <p:spPr>
          <a:xfrm>
            <a:off x="1256103" y="946512"/>
            <a:ext cx="6101628" cy="2519702"/>
          </a:xfrm>
          <a:prstGeom prst="rect">
            <a:avLst/>
          </a:prstGeom>
        </p:spPr>
      </p:pic>
      <p:sp>
        <p:nvSpPr>
          <p:cNvPr id="6" name="TextBox 5">
            <a:extLst>
              <a:ext uri="{FF2B5EF4-FFF2-40B4-BE49-F238E27FC236}">
                <a16:creationId xmlns:a16="http://schemas.microsoft.com/office/drawing/2014/main" id="{9E231F22-62EC-0E45-F6E0-E19045E4BE32}"/>
              </a:ext>
            </a:extLst>
          </p:cNvPr>
          <p:cNvSpPr txBox="1"/>
          <p:nvPr/>
        </p:nvSpPr>
        <p:spPr>
          <a:xfrm>
            <a:off x="1283726" y="3540831"/>
            <a:ext cx="6046382" cy="1169551"/>
          </a:xfrm>
          <a:prstGeom prst="rect">
            <a:avLst/>
          </a:prstGeom>
          <a:noFill/>
        </p:spPr>
        <p:txBody>
          <a:bodyPr wrap="square" rtlCol="0">
            <a:spAutoFit/>
          </a:bodyPr>
          <a:lstStyle/>
          <a:p>
            <a:r>
              <a:rPr lang="en-US" dirty="0"/>
              <a:t>The figure shows an upward slope in the coefficient trend from 2008 to 2022 although it was expected to be a flat line hovering at about "0.0" meaning industries with high AI exposure were already growing faster than other industries long before ChatGPT even existed.</a:t>
            </a:r>
          </a:p>
          <a:p>
            <a:endParaRPr lang="en-US" dirty="0"/>
          </a:p>
        </p:txBody>
      </p:sp>
    </p:spTree>
    <p:extLst>
      <p:ext uri="{BB962C8B-B14F-4D97-AF65-F5344CB8AC3E}">
        <p14:creationId xmlns:p14="http://schemas.microsoft.com/office/powerpoint/2010/main" val="3677882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264A91-4403-E562-DCCE-4FCAA905B023}"/>
              </a:ext>
            </a:extLst>
          </p:cNvPr>
          <p:cNvSpPr txBox="1"/>
          <p:nvPr/>
        </p:nvSpPr>
        <p:spPr>
          <a:xfrm>
            <a:off x="1062317" y="611841"/>
            <a:ext cx="2776817" cy="307777"/>
          </a:xfrm>
          <a:prstGeom prst="rect">
            <a:avLst/>
          </a:prstGeom>
          <a:noFill/>
        </p:spPr>
        <p:txBody>
          <a:bodyPr wrap="square" rtlCol="0">
            <a:spAutoFit/>
          </a:bodyPr>
          <a:lstStyle/>
          <a:p>
            <a:r>
              <a:rPr lang="en-US" dirty="0"/>
              <a:t>Robustness check model</a:t>
            </a:r>
          </a:p>
        </p:txBody>
      </p:sp>
      <p:sp>
        <p:nvSpPr>
          <p:cNvPr id="6" name="TextBox 5">
            <a:extLst>
              <a:ext uri="{FF2B5EF4-FFF2-40B4-BE49-F238E27FC236}">
                <a16:creationId xmlns:a16="http://schemas.microsoft.com/office/drawing/2014/main" id="{6A763BB4-9F54-B820-A58D-3902066EE892}"/>
              </a:ext>
            </a:extLst>
          </p:cNvPr>
          <p:cNvSpPr txBox="1"/>
          <p:nvPr/>
        </p:nvSpPr>
        <p:spPr>
          <a:xfrm>
            <a:off x="5425886" y="919618"/>
            <a:ext cx="2776817" cy="3108543"/>
          </a:xfrm>
          <a:prstGeom prst="rect">
            <a:avLst/>
          </a:prstGeom>
          <a:noFill/>
        </p:spPr>
        <p:txBody>
          <a:bodyPr wrap="square" rtlCol="0">
            <a:spAutoFit/>
          </a:bodyPr>
          <a:lstStyle/>
          <a:p>
            <a:r>
              <a:rPr lang="en-US" dirty="0"/>
              <a:t>Interpretation:</a:t>
            </a:r>
          </a:p>
          <a:p>
            <a:r>
              <a:rPr lang="en-US" dirty="0"/>
              <a:t>even after we mathematically removed the fact that tech always grows faster, there is still a statistically significant boost of about 11.1% in output that we can possibly attribute to the post 2022 ai shock </a:t>
            </a:r>
          </a:p>
          <a:p>
            <a:r>
              <a:rPr lang="en-US" dirty="0"/>
              <a:t>Group trend interpretation: coefficient is 0.0457 and significant, meaning high Ai industries do naturally grow about 4.6% faster than low AI industries every year </a:t>
            </a:r>
          </a:p>
        </p:txBody>
      </p:sp>
      <p:pic>
        <p:nvPicPr>
          <p:cNvPr id="3" name="Picture 2">
            <a:extLst>
              <a:ext uri="{FF2B5EF4-FFF2-40B4-BE49-F238E27FC236}">
                <a16:creationId xmlns:a16="http://schemas.microsoft.com/office/drawing/2014/main" id="{366FA6E0-3429-76B1-AF6F-126569AB4D7F}"/>
              </a:ext>
            </a:extLst>
          </p:cNvPr>
          <p:cNvPicPr>
            <a:picLocks noChangeAspect="1"/>
          </p:cNvPicPr>
          <p:nvPr/>
        </p:nvPicPr>
        <p:blipFill>
          <a:blip r:embed="rId2"/>
          <a:stretch>
            <a:fillRect/>
          </a:stretch>
        </p:blipFill>
        <p:spPr>
          <a:xfrm>
            <a:off x="857692" y="836613"/>
            <a:ext cx="4326431" cy="3781425"/>
          </a:xfrm>
          <a:prstGeom prst="rect">
            <a:avLst/>
          </a:prstGeom>
        </p:spPr>
      </p:pic>
    </p:spTree>
    <p:extLst>
      <p:ext uri="{BB962C8B-B14F-4D97-AF65-F5344CB8AC3E}">
        <p14:creationId xmlns:p14="http://schemas.microsoft.com/office/powerpoint/2010/main" val="241743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615731-A582-D55D-E717-FF099666534B}"/>
              </a:ext>
            </a:extLst>
          </p:cNvPr>
          <p:cNvSpPr txBox="1"/>
          <p:nvPr/>
        </p:nvSpPr>
        <p:spPr>
          <a:xfrm>
            <a:off x="1027814" y="765544"/>
            <a:ext cx="3097619" cy="307777"/>
          </a:xfrm>
          <a:prstGeom prst="rect">
            <a:avLst/>
          </a:prstGeom>
          <a:noFill/>
        </p:spPr>
        <p:txBody>
          <a:bodyPr wrap="square" rtlCol="0">
            <a:spAutoFit/>
          </a:bodyPr>
          <a:lstStyle/>
          <a:p>
            <a:r>
              <a:rPr lang="en-US" b="1" dirty="0"/>
              <a:t>Conclusion :</a:t>
            </a:r>
            <a:endParaRPr lang="bg-BG" b="1" dirty="0"/>
          </a:p>
        </p:txBody>
      </p:sp>
      <p:sp>
        <p:nvSpPr>
          <p:cNvPr id="4" name="TextBox 3">
            <a:extLst>
              <a:ext uri="{FF2B5EF4-FFF2-40B4-BE49-F238E27FC236}">
                <a16:creationId xmlns:a16="http://schemas.microsoft.com/office/drawing/2014/main" id="{E6483BA3-3860-2C24-B6B7-D74469F45653}"/>
              </a:ext>
            </a:extLst>
          </p:cNvPr>
          <p:cNvSpPr txBox="1"/>
          <p:nvPr/>
        </p:nvSpPr>
        <p:spPr>
          <a:xfrm>
            <a:off x="1084520" y="1183759"/>
            <a:ext cx="6117265" cy="3108543"/>
          </a:xfrm>
          <a:prstGeom prst="rect">
            <a:avLst/>
          </a:prstGeom>
          <a:noFill/>
        </p:spPr>
        <p:txBody>
          <a:bodyPr wrap="square" rtlCol="0">
            <a:spAutoFit/>
          </a:bodyPr>
          <a:lstStyle/>
          <a:p>
            <a:pPr marL="285750" indent="-285750" algn="just">
              <a:buFont typeface="Arial" panose="020B0604020202020204" pitchFamily="34" charset="0"/>
              <a:buChar char="•"/>
            </a:pPr>
            <a:r>
              <a:rPr lang="en-US" dirty="0"/>
              <a:t>No "Displacement Effect": Found no statistical evidence of technological unemployment or sudden "hyper-efficiency" (shedding workers) following the 2023 ChatGPT shock.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"Scale Effect" Dominates: High-AI exposure industries (IT, Professional Services) experienced a statistically significant boom in both real output and labor demand.</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Expansion Over Substitution: European firms are using GenAI to expand capacity and create new tasks, rather than simply cutting costs.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Policy Implication: Regulators should shift focus from "defensive job protection" to supporting growth (skills training, digital infrastructure) to address skilled labor shortages.</a:t>
            </a:r>
            <a:endParaRPr lang="bg-BG" dirty="0"/>
          </a:p>
        </p:txBody>
      </p:sp>
    </p:spTree>
    <p:extLst>
      <p:ext uri="{BB962C8B-B14F-4D97-AF65-F5344CB8AC3E}">
        <p14:creationId xmlns:p14="http://schemas.microsoft.com/office/powerpoint/2010/main" val="2731672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7EAF96-42C1-4766-CC3E-CFF8EB3EFF36}"/>
              </a:ext>
            </a:extLst>
          </p:cNvPr>
          <p:cNvSpPr txBox="1"/>
          <p:nvPr/>
        </p:nvSpPr>
        <p:spPr>
          <a:xfrm>
            <a:off x="1162493" y="751367"/>
            <a:ext cx="2091070" cy="307777"/>
          </a:xfrm>
          <a:prstGeom prst="rect">
            <a:avLst/>
          </a:prstGeom>
          <a:noFill/>
        </p:spPr>
        <p:txBody>
          <a:bodyPr wrap="square" rtlCol="0">
            <a:spAutoFit/>
          </a:bodyPr>
          <a:lstStyle/>
          <a:p>
            <a:r>
              <a:rPr lang="en-US" b="1" dirty="0"/>
              <a:t>Limitations:</a:t>
            </a:r>
            <a:endParaRPr lang="bg-BG" b="1" dirty="0"/>
          </a:p>
        </p:txBody>
      </p:sp>
      <p:sp>
        <p:nvSpPr>
          <p:cNvPr id="4" name="TextBox 3">
            <a:extLst>
              <a:ext uri="{FF2B5EF4-FFF2-40B4-BE49-F238E27FC236}">
                <a16:creationId xmlns:a16="http://schemas.microsoft.com/office/drawing/2014/main" id="{3A7A4551-AB25-0634-D1A8-C5F0487F8EC2}"/>
              </a:ext>
            </a:extLst>
          </p:cNvPr>
          <p:cNvSpPr txBox="1"/>
          <p:nvPr/>
        </p:nvSpPr>
        <p:spPr>
          <a:xfrm>
            <a:off x="1056167" y="1059144"/>
            <a:ext cx="6152707" cy="3323987"/>
          </a:xfrm>
          <a:prstGeom prst="rect">
            <a:avLst/>
          </a:prstGeom>
          <a:noFill/>
        </p:spPr>
        <p:txBody>
          <a:bodyPr wrap="square" rtlCol="0">
            <a:spAutoFit/>
          </a:bodyPr>
          <a:lstStyle/>
          <a:p>
            <a:pPr marL="285750" indent="-285750" algn="just" fontAlgn="base">
              <a:buFont typeface="Arial" panose="020B0604020202020204" pitchFamily="34" charset="0"/>
              <a:buChar char="•"/>
            </a:pPr>
            <a:r>
              <a:rPr lang="en-US" dirty="0"/>
              <a:t>Short Post-Treatment Period (2023–2024): The data captures only the immediate shock. General Purpose Technologies often follow a "J-Curve“ efficiency spikes and potential displacement may still materialize years later. </a:t>
            </a:r>
          </a:p>
          <a:p>
            <a:pPr marL="285750" indent="-285750" algn="just" fontAlgn="base">
              <a:buFont typeface="Arial" panose="020B0604020202020204" pitchFamily="34" charset="0"/>
              <a:buChar char="•"/>
            </a:pPr>
            <a:endParaRPr lang="en-US" dirty="0"/>
          </a:p>
          <a:p>
            <a:pPr marL="285750" indent="-285750" algn="just" fontAlgn="base">
              <a:buFont typeface="Arial" panose="020B0604020202020204" pitchFamily="34" charset="0"/>
              <a:buChar char="•"/>
            </a:pPr>
            <a:r>
              <a:rPr lang="en-US" dirty="0"/>
              <a:t>Industry-Level Aggregation: Sector-wide data may mask firm-level heterogeneity (large tech firms expanding while smaller, less adaptable firms contract). </a:t>
            </a:r>
          </a:p>
          <a:p>
            <a:pPr marL="285750" indent="-285750" algn="just" fontAlgn="base">
              <a:buFont typeface="Arial" panose="020B0604020202020204" pitchFamily="34" charset="0"/>
              <a:buChar char="•"/>
            </a:pPr>
            <a:endParaRPr lang="en-US" dirty="0"/>
          </a:p>
          <a:p>
            <a:pPr marL="285750" indent="-285750" algn="just" fontAlgn="base">
              <a:buFont typeface="Arial" panose="020B0604020202020204" pitchFamily="34" charset="0"/>
              <a:buChar char="•"/>
            </a:pPr>
            <a:r>
              <a:rPr lang="en-US" dirty="0"/>
              <a:t>Static AI Exposure Index: The model relies on a fixed 2022 occupational exposure snapshot, but GenAI capabilities are evolving rapidly. </a:t>
            </a:r>
          </a:p>
          <a:p>
            <a:pPr marL="285750" indent="-285750" algn="just" fontAlgn="base">
              <a:buFont typeface="Arial" panose="020B0604020202020204" pitchFamily="34" charset="0"/>
              <a:buChar char="•"/>
            </a:pPr>
            <a:endParaRPr lang="en-US" dirty="0"/>
          </a:p>
          <a:p>
            <a:pPr marL="285750" indent="-285750" algn="just" fontAlgn="base">
              <a:buFont typeface="Arial" panose="020B0604020202020204" pitchFamily="34" charset="0"/>
              <a:buChar char="•"/>
            </a:pPr>
            <a:r>
              <a:rPr lang="en-US" dirty="0"/>
              <a:t>Future Research: Future studies should analyze the quality of this new labor and revisit the data in 3–5 years to test for delayed efficiency growth.</a:t>
            </a:r>
          </a:p>
        </p:txBody>
      </p:sp>
    </p:spTree>
    <p:extLst>
      <p:ext uri="{BB962C8B-B14F-4D97-AF65-F5344CB8AC3E}">
        <p14:creationId xmlns:p14="http://schemas.microsoft.com/office/powerpoint/2010/main" val="1915347394"/>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1153</Words>
  <Application>Microsoft Office PowerPoint</Application>
  <PresentationFormat>On-screen Show (16:9)</PresentationFormat>
  <Paragraphs>108</Paragraphs>
  <Slides>18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Hanken Grotesk</vt:lpstr>
      <vt:lpstr>Figtree Black</vt:lpstr>
      <vt:lpstr>Arial</vt:lpstr>
      <vt:lpstr>Calibri</vt:lpstr>
      <vt:lpstr>Elegant Black &amp; White Thesis Defense by Slidesgo</vt:lpstr>
      <vt:lpstr>Generative AI as General-Purpose Technology: A panel data analysis of European productivity and industrial output (2011–2024)</vt:lpstr>
      <vt:lpstr>Structure of thesis </vt:lpstr>
      <vt:lpstr>PowerPoint Presentation</vt:lpstr>
      <vt:lpstr>Data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Alaeddine khallid</cp:lastModifiedBy>
  <cp:revision>5</cp:revision>
  <dcterms:modified xsi:type="dcterms:W3CDTF">2026-03-18T19:24:47Z</dcterms:modified>
</cp:coreProperties>
</file>